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685800" y="548640"/>
            <a:ext cx="404164" cy="356616"/>
          </a:xfrm>
          <a:prstGeom prst="triangle">
            <a:avLst/>
          </a:prstGeom>
          <a:noFill/>
          <a:ln w="36322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0333" y="929030"/>
            <a:ext cx="95097" cy="95097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ONTERRA NIGERIA 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Arial"/>
              </a:rPr>
              <a:t>INVESTOR PROPOSAL  ·  STRICTLY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From Idea to First Oil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FB0BF"/>
                </a:solidFill>
                <a:latin typeface="Arial"/>
              </a:rPr>
              <a:t>Developing and facilitating marginal field acquisition and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FB0BF"/>
                </a:solidFill>
                <a:latin typeface="Arial"/>
              </a:rPr>
              <a:t>production in Nigeria, from purchase to flowing barrels.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17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FB0BF"/>
                </a:solidFill>
                <a:latin typeface="Arial"/>
              </a:rPr>
              <a:t>No. 4 Adetunji Street, Lagos   ·   +234 814 766 9552   ·   onterra.ng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Nigeria's marginal fields are the right-sized 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383280" cy="2926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A900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375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PIA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A clearer fiscal and regulatory framework has de-risked the path from licence to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377440"/>
            <a:ext cx="3383280" cy="2926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6974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A90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3375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Majors exiting onshore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93192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Divestments are handing well-understood assets to focused indigenous operators.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377440"/>
            <a:ext cx="3383280" cy="2926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A900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375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Right-sized 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93192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Marginal fields are reachable for independents who can move quickly and manage cost.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Why marginal fields stall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957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B1421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35915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Fragmented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359152"/>
            <a:ext cx="6065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9FB0BF"/>
                </a:solidFill>
                <a:latin typeface="Arial"/>
              </a:rPr>
              <a:t>Capital, subsurface, drilling and facilities are handled by different parties with no single owner of the outcome.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630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B142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59359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Capital without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593592"/>
            <a:ext cx="6065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9FB0BF"/>
                </a:solidFill>
                <a:latin typeface="Arial"/>
              </a:rPr>
              <a:t>Funding arrives, but the team on the ground to turn a plan into production does not.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846320"/>
            <a:ext cx="457200" cy="45720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64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B142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803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Broken value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4828032"/>
            <a:ext cx="6065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9FB0BF"/>
                </a:solidFill>
                <a:latin typeface="Arial"/>
              </a:rPr>
              <a:t>A field only delivers if every link holds, from acquisition through evacuation to the sales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1500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1FA3B8"/>
                </a:solidFill>
                <a:latin typeface="Arial"/>
              </a:rPr>
              <a:t>Onterra closes the gap by owning the whole chain, with the people to act on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WHY ONTERRA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One partner, the whole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5349240" cy="1783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06039"/>
            <a:ext cx="47091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Arial"/>
              </a:rPr>
              <a:t>Complete system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4709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Regulatory, commercial, subsurface and surface, we see how every piece connects.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331720"/>
            <a:ext cx="5349240" cy="1783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2606039"/>
            <a:ext cx="47091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Arial"/>
              </a:rPr>
              <a:t>People on the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3200400"/>
            <a:ext cx="4709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In-house manpower plus a vetted network of specialist consultants, ready to mobilise.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15968"/>
            <a:ext cx="5349240" cy="1783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90288"/>
            <a:ext cx="47091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Arial"/>
              </a:rPr>
              <a:t>Single 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84648"/>
            <a:ext cx="4709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One partner responsible from purchase through to first oil and market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315968"/>
            <a:ext cx="5349240" cy="1783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4590288"/>
            <a:ext cx="47091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Arial"/>
              </a:rPr>
              <a:t>Full service breadth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5184648"/>
            <a:ext cx="4709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Wireline, coiled tubing, well services and contracts, coordinated under one roof.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THE JOURNEY WE MANAGE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Purchase  to  First Oil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468880"/>
            <a:ext cx="566928" cy="566928"/>
          </a:xfrm>
          <a:prstGeom prst="ellipse">
            <a:avLst/>
          </a:prstGeom>
          <a:solidFill>
            <a:srgbClr val="0E3A4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05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2A900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7423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74238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FB0BF"/>
                </a:solidFill>
                <a:latin typeface="Arial"/>
              </a:rPr>
              <a:t>Identify, evaluate and facilitate a clean entry into the field.</a:t>
            </a:r>
          </a:p>
        </p:txBody>
      </p:sp>
      <p:sp>
        <p:nvSpPr>
          <p:cNvPr id="8" name="Oval 7"/>
          <p:cNvSpPr/>
          <p:nvPr/>
        </p:nvSpPr>
        <p:spPr>
          <a:xfrm>
            <a:off x="2519629" y="2468880"/>
            <a:ext cx="566928" cy="566928"/>
          </a:xfrm>
          <a:prstGeom prst="ellipse">
            <a:avLst/>
          </a:prstGeom>
          <a:solidFill>
            <a:srgbClr val="0E3A4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9629" y="2505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2A90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2469" y="3200400"/>
            <a:ext cx="17423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Subsurface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2469" y="3840480"/>
            <a:ext cx="174238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FB0BF"/>
                </a:solidFill>
                <a:latin typeface="Arial"/>
              </a:rPr>
              <a:t>Re-interpret the reservoir and define the resource.</a:t>
            </a:r>
          </a:p>
        </p:txBody>
      </p:sp>
      <p:sp>
        <p:nvSpPr>
          <p:cNvPr id="12" name="Oval 11"/>
          <p:cNvSpPr/>
          <p:nvPr/>
        </p:nvSpPr>
        <p:spPr>
          <a:xfrm>
            <a:off x="4353458" y="2468880"/>
            <a:ext cx="566928" cy="566928"/>
          </a:xfrm>
          <a:prstGeom prst="ellipse">
            <a:avLst/>
          </a:prstGeom>
          <a:solidFill>
            <a:srgbClr val="0E3A4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2505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2A900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6298" y="3200400"/>
            <a:ext cx="17423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Development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6298" y="3840480"/>
            <a:ext cx="174238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FB0BF"/>
                </a:solidFill>
                <a:latin typeface="Arial"/>
              </a:rPr>
              <a:t>Engineer facilities, wells and contracting strategy.</a:t>
            </a:r>
          </a:p>
        </p:txBody>
      </p:sp>
      <p:sp>
        <p:nvSpPr>
          <p:cNvPr id="16" name="Oval 15"/>
          <p:cNvSpPr/>
          <p:nvPr/>
        </p:nvSpPr>
        <p:spPr>
          <a:xfrm>
            <a:off x="6187287" y="2468880"/>
            <a:ext cx="566928" cy="566928"/>
          </a:xfrm>
          <a:prstGeom prst="ellipse">
            <a:avLst/>
          </a:prstGeom>
          <a:solidFill>
            <a:srgbClr val="0E3A4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287" y="2505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2A900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0127" y="3200400"/>
            <a:ext cx="17423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0127" y="3840480"/>
            <a:ext cx="174238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FB0BF"/>
                </a:solidFill>
                <a:latin typeface="Arial"/>
              </a:rPr>
              <a:t>Drilling, completions, wireline and coiled tubing.</a:t>
            </a:r>
          </a:p>
        </p:txBody>
      </p:sp>
      <p:sp>
        <p:nvSpPr>
          <p:cNvPr id="20" name="Oval 19"/>
          <p:cNvSpPr/>
          <p:nvPr/>
        </p:nvSpPr>
        <p:spPr>
          <a:xfrm>
            <a:off x="8021116" y="2468880"/>
            <a:ext cx="566928" cy="566928"/>
          </a:xfrm>
          <a:prstGeom prst="ellipse">
            <a:avLst/>
          </a:prstGeom>
          <a:solidFill>
            <a:srgbClr val="0E3A4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1116" y="2505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2A900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56" y="3200400"/>
            <a:ext cx="17423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First oil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3956" y="3840480"/>
            <a:ext cx="174238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FB0BF"/>
                </a:solidFill>
                <a:latin typeface="Arial"/>
              </a:rPr>
              <a:t>Commission and bring the field online.</a:t>
            </a:r>
          </a:p>
        </p:txBody>
      </p:sp>
      <p:sp>
        <p:nvSpPr>
          <p:cNvPr id="24" name="Oval 23"/>
          <p:cNvSpPr/>
          <p:nvPr/>
        </p:nvSpPr>
        <p:spPr>
          <a:xfrm>
            <a:off x="9854946" y="2468880"/>
            <a:ext cx="566928" cy="566928"/>
          </a:xfrm>
          <a:prstGeom prst="ellipse">
            <a:avLst/>
          </a:prstGeom>
          <a:solidFill>
            <a:srgbClr val="0E3A4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4946" y="2505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2A900"/>
                </a:solidFill>
                <a:latin typeface="Arial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7786" y="3200400"/>
            <a:ext cx="17423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7786" y="3840480"/>
            <a:ext cx="174238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FB0BF"/>
                </a:solidFill>
                <a:latin typeface="Arial"/>
              </a:rPr>
              <a:t>Optimise output and deliver crude to market.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THE CAPITAL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$50 million to first 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License &amp; field acquisition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286000"/>
            <a:ext cx="5120640" cy="27432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0" y="2286000"/>
            <a:ext cx="4352544" cy="2743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224028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00"/>
                </a:solidFill>
                <a:latin typeface="Arial"/>
              </a:rPr>
              <a:t>$8.5m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60904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3D seismic &amp; subsurface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706624"/>
            <a:ext cx="5120640" cy="27432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2706624"/>
            <a:ext cx="768095" cy="2743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78440" y="266090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00"/>
                </a:solidFill>
                <a:latin typeface="Arial"/>
              </a:rPr>
              <a:t>$1.5m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8152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Drilling &amp; completion (1 well)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127248"/>
            <a:ext cx="5120640" cy="27432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3127248"/>
            <a:ext cx="5120640" cy="2743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3081528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00"/>
                </a:solidFill>
                <a:latin typeface="Arial"/>
              </a:rPr>
              <a:t>$10.0m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02152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Topsides / surface facilities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3547872"/>
            <a:ext cx="5120640" cy="27432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3547872"/>
            <a:ext cx="5120640" cy="2743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3502152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00"/>
                </a:solidFill>
                <a:latin typeface="Arial"/>
              </a:rPr>
              <a:t>$10.0m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22776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Evacuation / flowlines /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968496"/>
            <a:ext cx="5120640" cy="27432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0640" y="3968496"/>
            <a:ext cx="3584447" cy="2743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3922776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00"/>
                </a:solidFill>
                <a:latin typeface="Arial"/>
              </a:rPr>
              <a:t>$7.0m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43400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Engineering, PM &amp; owner's costs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4389120"/>
            <a:ext cx="5120640" cy="27432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20640" y="4389120"/>
            <a:ext cx="2048255" cy="2743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434340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00"/>
                </a:solidFill>
                <a:latin typeface="Arial"/>
              </a:rPr>
              <a:t>$4.0m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764024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Pre-first-oil G&amp;A &amp; working capital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4809744"/>
            <a:ext cx="5120640" cy="27432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20640" y="4809744"/>
            <a:ext cx="1536191" cy="2743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476402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00"/>
                </a:solidFill>
                <a:latin typeface="Arial"/>
              </a:rPr>
              <a:t>$3.0m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184648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Contingency (~15%)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5230368"/>
            <a:ext cx="5120640" cy="27432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20640" y="5230368"/>
            <a:ext cx="3072383" cy="2743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5184648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2A900"/>
                </a:solidFill>
                <a:latin typeface="Arial"/>
              </a:rPr>
              <a:t>$6.0m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650992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5650992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$50.0m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THE ASSET, BASE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A single well, sized to deliver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2606040" cy="182880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2A900"/>
                </a:solidFill>
                <a:latin typeface="Arial"/>
              </a:rPr>
              <a:t>3,000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FB0BF"/>
                </a:solidFill>
                <a:latin typeface="Arial"/>
              </a:rPr>
              <a:t>bopd peak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468880"/>
            <a:ext cx="2606040" cy="182880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8346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2A900"/>
                </a:solidFill>
                <a:latin typeface="Arial"/>
              </a:rPr>
              <a:t>~2,400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7033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FB0BF"/>
                </a:solidFill>
                <a:latin typeface="Arial"/>
              </a:rPr>
              <a:t>bopd life average after decline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468880"/>
            <a:ext cx="2606040" cy="182880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8346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2A900"/>
                </a:solidFill>
                <a:latin typeface="Arial"/>
              </a:rPr>
              <a:t>~20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7033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FB0BF"/>
                </a:solidFill>
                <a:latin typeface="Arial"/>
              </a:rPr>
              <a:t>mmbbl recoverable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468880"/>
            <a:ext cx="2606040" cy="182880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8346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2A900"/>
                </a:solidFill>
                <a:latin typeface="Arial"/>
              </a:rPr>
              <a:t>23 yrs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7033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FB0BF"/>
                </a:solidFill>
                <a:latin typeface="Arial"/>
              </a:rPr>
              <a:t>producing field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3776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FB0BF"/>
                </a:solidFill>
                <a:latin typeface="Arial"/>
              </a:rPr>
              <a:t>Modelled at a flat $75/bbl realised price. Production ramps in year one, holds a 3,000 bopd plateau, then declines.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FISCAL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Modelled under PIA 2021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2606040" cy="192024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2A900"/>
                </a:solidFill>
                <a:latin typeface="Arial"/>
              </a:rPr>
              <a:t>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Production royalty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FB0BF"/>
                </a:solidFill>
                <a:latin typeface="Arial"/>
              </a:rPr>
              <a:t>Onshore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377440"/>
            <a:ext cx="2606040" cy="192024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69748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2A900"/>
                </a:solidFill>
                <a:latin typeface="Arial"/>
              </a:rP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4747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Price-based royalty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5876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FB0BF"/>
                </a:solidFill>
                <a:latin typeface="Arial"/>
              </a:rPr>
              <a:t>PIA sliding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377440"/>
            <a:ext cx="2606040" cy="192024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69748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2A900"/>
                </a:solidFill>
                <a:latin typeface="Arial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747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Hydrocarbon 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5876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FB0BF"/>
                </a:solidFill>
                <a:latin typeface="Arial"/>
              </a:rPr>
              <a:t>Onshore / shallow PML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377440"/>
            <a:ext cx="2606040" cy="192024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69748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2A900"/>
                </a:solidFill>
                <a:latin typeface="Arial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4747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Companies income tax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85876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FB0BF"/>
                </a:solidFill>
                <a:latin typeface="Arial"/>
              </a:rPr>
              <a:t>Applied after 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0060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FB0BF"/>
                </a:solidFill>
                <a:latin typeface="Arial"/>
              </a:rPr>
              <a:t>Capital allowances shelter early tax. Total government take of revenue is ~39%. Terms to be confirmed with a petroleum tax adviser.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COMMERCIAL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Aligned: cost recovery first, then shared profit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5349240" cy="283464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A900"/>
                </a:solidFill>
                <a:latin typeface="Arial"/>
              </a:rPr>
              <a:t>PHASE 1 · COST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54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Until the $50m is repaid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1188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37033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to investor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(capital recovery)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617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A3B8"/>
                </a:solidFill>
                <a:latin typeface="Arial"/>
              </a:rPr>
              <a:t>20% operator incentive to Onterra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68880"/>
            <a:ext cx="5349240" cy="283464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A900"/>
                </a:solidFill>
                <a:latin typeface="Arial"/>
              </a:rPr>
              <a:t>PHASE 2 · PROFIT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154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After full payback, for field 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61188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7947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FB0BF"/>
                </a:solidFill>
                <a:latin typeface="Arial"/>
              </a:rPr>
              <a:t>to investor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17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A3B8"/>
                </a:solidFill>
                <a:latin typeface="Arial"/>
              </a:rPr>
              <a:t>40% operator promote to Onterra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INVESTOR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Capital back in four years, 4.3x over field life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2606040" cy="15544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F2A900"/>
                </a:solidFill>
                <a:latin typeface="Arial"/>
              </a:rPr>
              <a:t>4 yrs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6440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payback from first oil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240280"/>
            <a:ext cx="2606040" cy="15544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5146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F2A900"/>
                </a:solidFill>
                <a:latin typeface="Arial"/>
              </a:rPr>
              <a:t>4.3x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6440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money multiple (MOIC)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240280"/>
            <a:ext cx="2606040" cy="15544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5146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F2A900"/>
                </a:solidFill>
                <a:latin typeface="Arial"/>
              </a:rPr>
              <a:t>~25%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6440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investor IRR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240280"/>
            <a:ext cx="2606040" cy="15544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5146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F2A900"/>
                </a:solidFill>
                <a:latin typeface="Arial"/>
              </a:rPr>
              <a:t>$42m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26440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NPV at 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69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Oil price sensitivity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526280"/>
            <a:ext cx="1828800" cy="365760"/>
          </a:xfrm>
          <a:prstGeom prst="rect">
            <a:avLst/>
          </a:prstGeom>
          <a:solidFill>
            <a:srgbClr val="0E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2628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4526280"/>
            <a:ext cx="1554480" cy="365760"/>
          </a:xfrm>
          <a:prstGeom prst="rect">
            <a:avLst/>
          </a:prstGeom>
          <a:solidFill>
            <a:srgbClr val="0E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452628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$60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4526280"/>
            <a:ext cx="1554480" cy="365760"/>
          </a:xfrm>
          <a:prstGeom prst="rect">
            <a:avLst/>
          </a:prstGeom>
          <a:solidFill>
            <a:srgbClr val="0E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452628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$75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4526280"/>
            <a:ext cx="1554480" cy="365760"/>
          </a:xfrm>
          <a:prstGeom prst="rect">
            <a:avLst/>
          </a:prstGeom>
          <a:solidFill>
            <a:srgbClr val="0E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452628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$90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892040"/>
            <a:ext cx="1828800" cy="365760"/>
          </a:xfrm>
          <a:prstGeom prst="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9204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Payback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892040"/>
            <a:ext cx="1554480" cy="365760"/>
          </a:xfrm>
          <a:prstGeom prst="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89204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5 yrs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4892040"/>
            <a:ext cx="1554480" cy="365760"/>
          </a:xfrm>
          <a:prstGeom prst="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69080" y="489204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4 yrs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4892040"/>
            <a:ext cx="1554480" cy="365760"/>
          </a:xfrm>
          <a:prstGeom prst="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489204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3 yrs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257800"/>
            <a:ext cx="1828800" cy="365760"/>
          </a:xfrm>
          <a:prstGeom prst="rect">
            <a:avLst/>
          </a:prstGeom>
          <a:solidFill>
            <a:srgbClr val="12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2578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MOIC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5257800"/>
            <a:ext cx="1554480" cy="365760"/>
          </a:xfrm>
          <a:prstGeom prst="rect">
            <a:avLst/>
          </a:prstGeom>
          <a:solidFill>
            <a:srgbClr val="12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525780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2.8x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5257800"/>
            <a:ext cx="1554480" cy="365760"/>
          </a:xfrm>
          <a:prstGeom prst="rect">
            <a:avLst/>
          </a:prstGeom>
          <a:solidFill>
            <a:srgbClr val="12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525780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4.3x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5257800"/>
            <a:ext cx="1554480" cy="365760"/>
          </a:xfrm>
          <a:prstGeom prst="rect">
            <a:avLst/>
          </a:prstGeom>
          <a:solidFill>
            <a:srgbClr val="12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525780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5.7x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623560"/>
            <a:ext cx="1828800" cy="365760"/>
          </a:xfrm>
          <a:prstGeom prst="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235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IRR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4600" y="5623560"/>
            <a:ext cx="1554480" cy="365760"/>
          </a:xfrm>
          <a:prstGeom prst="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4600" y="562356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16%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5623560"/>
            <a:ext cx="1554480" cy="365760"/>
          </a:xfrm>
          <a:prstGeom prst="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9080" y="562356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25%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3560" y="5623560"/>
            <a:ext cx="1554480" cy="365760"/>
          </a:xfrm>
          <a:prstGeom prst="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562356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31%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5989320"/>
            <a:ext cx="1828800" cy="365760"/>
          </a:xfrm>
          <a:prstGeom prst="rect">
            <a:avLst/>
          </a:prstGeom>
          <a:solidFill>
            <a:srgbClr val="12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98932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NPV @10%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14600" y="5989320"/>
            <a:ext cx="1554480" cy="365760"/>
          </a:xfrm>
          <a:prstGeom prst="rect">
            <a:avLst/>
          </a:prstGeom>
          <a:solidFill>
            <a:srgbClr val="12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14600" y="598932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$17m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69080" y="5989320"/>
            <a:ext cx="1554480" cy="365760"/>
          </a:xfrm>
          <a:prstGeom prst="rect">
            <a:avLst/>
          </a:prstGeom>
          <a:solidFill>
            <a:srgbClr val="12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69080" y="598932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$42m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23560" y="5989320"/>
            <a:ext cx="1554480" cy="365760"/>
          </a:xfrm>
          <a:prstGeom prst="rect">
            <a:avLst/>
          </a:prstGeom>
          <a:solidFill>
            <a:srgbClr val="12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60" y="598932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BF"/>
                </a:solidFill>
                <a:latin typeface="Arial"/>
              </a:rPr>
              <a:t>$68m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THE UPSIDE LEVER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Each new well steps the economics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FB0BF"/>
                </a:solidFill>
                <a:latin typeface="Arial"/>
              </a:rPr>
              <a:t>The base case is a single well. The field is drained optimally with a 3 to 4 well programme.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34640"/>
            <a:ext cx="3383280" cy="20116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2A900"/>
                </a:solidFill>
                <a:latin typeface="Arial"/>
              </a:rPr>
              <a:t>+1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9FB0BF"/>
                </a:solidFill>
                <a:latin typeface="Arial"/>
              </a:rPr>
              <a:t>$7m onshore to $15m offshore per well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2834640"/>
            <a:ext cx="3383280" cy="20116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3200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2A900"/>
                </a:solidFill>
                <a:latin typeface="Arial"/>
              </a:rPr>
              <a:t>More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393192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9FB0BF"/>
                </a:solidFill>
                <a:latin typeface="Arial"/>
              </a:rPr>
              <a:t>Higher plateau and a longer production 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6136" y="2834640"/>
            <a:ext cx="3383280" cy="20116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3200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2A900"/>
                </a:solidFill>
                <a:latin typeface="Arial"/>
              </a:rPr>
              <a:t>Stronger returns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393192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9FB0BF"/>
                </a:solidFill>
                <a:latin typeface="Arial"/>
              </a:rPr>
              <a:t>Faster recovery and materially higher NPV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21208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FA3B8"/>
                </a:solidFill>
                <a:latin typeface="Arial"/>
              </a:rPr>
              <a:t>A full multi-well programme is modelled in a client-specific deep-dive on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WHY ONTERRA OPERATES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Experience that predates the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5349240" cy="1783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06039"/>
            <a:ext cx="47091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Arial"/>
              </a:rPr>
              <a:t>Proven operatorship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4709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An established company, recently renamed, carrying years of field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331720"/>
            <a:ext cx="5349240" cy="1783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2606039"/>
            <a:ext cx="47091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Arial"/>
              </a:rPr>
              <a:t>Manpower &amp; consultants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3200400"/>
            <a:ext cx="4709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The people and specialists to deliver, not just advise.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15968"/>
            <a:ext cx="5349240" cy="1783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90288"/>
            <a:ext cx="47091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Arial"/>
              </a:rPr>
              <a:t>End-to-end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84648"/>
            <a:ext cx="4709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Acquisition, subsurface, drilling, facilities, evacuation and production.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315968"/>
            <a:ext cx="5349240" cy="1783080"/>
          </a:xfrm>
          <a:prstGeom prst="round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4590288"/>
            <a:ext cx="47091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Arial"/>
              </a:rPr>
              <a:t>Skin in the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5184648"/>
            <a:ext cx="4709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FB0BF"/>
                </a:solidFill>
                <a:latin typeface="Arial"/>
              </a:rPr>
              <a:t>Onterra is paid through performance, aligning fully with the investor.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900"/>
                </a:solidFill>
                <a:latin typeface="Arial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$50 million to take a field to first 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FB0BF"/>
                </a:solidFill>
                <a:latin typeface="Arial"/>
              </a:rPr>
              <a:t>We are seeking an investor partner to fund the development of a Nigerian marginal field, with Onterra as operator delivering the full journey from acquisition to production.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3154679"/>
            <a:ext cx="164592" cy="164592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1089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3108960"/>
            <a:ext cx="7985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9FB0BF"/>
                </a:solidFill>
                <a:latin typeface="Arial"/>
              </a:rPr>
              <a:t>$50m, deployed across a 2-year development to first oil.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867911"/>
            <a:ext cx="164592" cy="164592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822191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822191"/>
            <a:ext cx="7985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9FB0BF"/>
                </a:solidFill>
                <a:latin typeface="Arial"/>
              </a:rPr>
              <a:t>Capital recovered first (80/20), then a 60/40 profit share in the investor's favour.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581144"/>
            <a:ext cx="164592" cy="164592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3542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535424"/>
            <a:ext cx="7985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9FB0BF"/>
                </a:solidFill>
                <a:latin typeface="Arial"/>
              </a:rPr>
              <a:t>~4-year payback, 4.3x money multiple, ~25% IRR over a 23-year field life.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294376"/>
            <a:ext cx="164592" cy="164592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24865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Next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248656"/>
            <a:ext cx="7985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9FB0BF"/>
                </a:solidFill>
                <a:latin typeface="Arial"/>
              </a:rPr>
              <a:t>Sign an NDA and we will walk you through the model on a target field.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 NIGERIA LIMITED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FB0BF"/>
                </a:solidFill>
                <a:latin typeface="Arial"/>
              </a:rPr>
              <a:t>onterra.ng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685800" y="640080"/>
            <a:ext cx="404164" cy="356616"/>
          </a:xfrm>
          <a:prstGeom prst="triangle">
            <a:avLst/>
          </a:prstGeom>
          <a:noFill/>
          <a:ln w="36322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0333" y="1020470"/>
            <a:ext cx="95097" cy="95097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Let's take your field to first 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A900"/>
                </a:solidFill>
                <a:latin typeface="Arial"/>
              </a:rPr>
              <a:t>Onterra Nigeria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B0BF"/>
                </a:solidFill>
                <a:latin typeface="Arial"/>
              </a:rPr>
              <a:t>OFFICE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4206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No. 4 Adetunji Street, Lagos, Nigeria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915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B0BF"/>
                </a:solidFill>
                <a:latin typeface="Arial"/>
              </a:rPr>
              <a:t>PHONE &amp;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70915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+234 814 766 9552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1207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B0BF"/>
                </a:solidFill>
                <a:latin typeface="Arial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21207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onterra.ng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0936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FB0BF"/>
                </a:solidFill>
                <a:latin typeface="Arial"/>
              </a:rPr>
              <a:t>Strictly confidential. Indicative economics for discussion only;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